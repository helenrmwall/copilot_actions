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6" autoAdjust="0"/>
    <p:restoredTop sz="94660"/>
  </p:normalViewPr>
  <p:slideViewPr>
    <p:cSldViewPr snapToGrid="0">
      <p:cViewPr varScale="1">
        <p:scale>
          <a:sx n="71" d="100"/>
          <a:sy n="71" d="100"/>
        </p:scale>
        <p:origin x="74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3EF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F30-4684-8F30-2BC15D86591D}"/>
              </c:ext>
            </c:extLst>
          </c:dPt>
          <c:dPt>
            <c:idx val="1"/>
            <c:bubble3D val="0"/>
            <c:spPr>
              <a:solidFill>
                <a:srgbClr val="06BD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30-4684-8F30-2BC15D86591D}"/>
              </c:ext>
            </c:extLst>
          </c:dPt>
          <c:dPt>
            <c:idx val="2"/>
            <c:bubble3D val="0"/>
            <c:spPr>
              <a:solidFill>
                <a:srgbClr val="0B2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30-4684-8F30-2BC15D86591D}"/>
              </c:ext>
            </c:extLst>
          </c:dPt>
          <c:dPt>
            <c:idx val="3"/>
            <c:bubble3D val="0"/>
            <c:spPr>
              <a:solidFill>
                <a:srgbClr val="8C9B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30-4684-8F30-2BC15D86591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2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F30-4684-8F30-2BC15D86591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2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30-4684-8F30-2BC15D86591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2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30-4684-8F30-2BC15D86591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2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30-4684-8F30-2BC15D86591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Enterprise</c:v>
                </c:pt>
                <c:pt idx="1">
                  <c:v>Cloud</c:v>
                </c:pt>
                <c:pt idx="2">
                  <c:v>Prof. Services</c:v>
                </c:pt>
                <c:pt idx="3">
                  <c:v>Licensing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43.7</c:v>
                </c:pt>
                <c:pt idx="1">
                  <c:v>27.1</c:v>
                </c:pt>
                <c:pt idx="2">
                  <c:v>16.899999999999999</c:v>
                </c:pt>
                <c:pt idx="3">
                  <c:v>12.3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F30-4684-8F30-2BC15D8659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233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 2025</c:v>
                </c:pt>
              </c:strCache>
            </c:strRef>
          </c:tx>
          <c:spPr>
            <a:solidFill>
              <a:srgbClr val="03EF6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R&amp;D</c:v>
                </c:pt>
                <c:pt idx="1">
                  <c:v>Sales &amp; Mktg</c:v>
                </c:pt>
                <c:pt idx="2">
                  <c:v>G&amp;A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89.6</c:v>
                </c:pt>
                <c:pt idx="1">
                  <c:v>82.4</c:v>
                </c:pt>
                <c:pt idx="2">
                  <c:v>47.8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F0-4F13-8FFE-6B4D9303FC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 2024</c:v>
                </c:pt>
              </c:strCache>
            </c:strRef>
          </c:tx>
          <c:spPr>
            <a:solidFill>
              <a:srgbClr val="8C9BA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R&amp;D</c:v>
                </c:pt>
                <c:pt idx="1">
                  <c:v>Sales &amp; Mktg</c:v>
                </c:pt>
                <c:pt idx="2">
                  <c:v>G&amp;A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79.2</c:v>
                </c:pt>
                <c:pt idx="1">
                  <c:v>76.8</c:v>
                </c:pt>
                <c:pt idx="2">
                  <c:v>42.2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F0-4F13-8FFE-6B4D9303FC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9BA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233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03EF6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3EF62"/>
              </a:solidFill>
              <a:ln w="9525" cap="flat">
                <a:solidFill>
                  <a:srgbClr val="03EF6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 2023</c:v>
                </c:pt>
                <c:pt idx="1">
                  <c:v>FY 2024</c:v>
                </c:pt>
                <c:pt idx="2">
                  <c:v>FY 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411.7</c:v>
                </c:pt>
                <c:pt idx="1">
                  <c:v>462.8</c:v>
                </c:pt>
                <c:pt idx="2">
                  <c:v>521.29999999999995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100-4758-8ED2-FA0E69D2E81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9BA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733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Directors Meeting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Results  |  FY 2025 Review  |  Multi-Year Trends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17, 2026  |  Confidential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3EF6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Key Highlights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874520" cy="1463040"/>
          </a:xfrm>
          <a:prstGeom prst="rect">
            <a:avLst/>
          </a:prstGeom>
          <a:solidFill>
            <a:srgbClr val="05192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$142.8M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+12.4% YoY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1371600"/>
            <a:ext cx="1874520" cy="1463040"/>
          </a:xfrm>
          <a:prstGeom prst="rect">
            <a:avLst/>
          </a:prstGeom>
          <a:solidFill>
            <a:srgbClr val="05192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71800" y="1463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71800" y="1737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$38.6M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971800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+15.1% YoY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1874520" cy="1463040"/>
          </a:xfrm>
          <a:prstGeom prst="rect">
            <a:avLst/>
          </a:prstGeom>
          <a:solidFill>
            <a:srgbClr val="05192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463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$22.1M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+18.3% YoY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1874520" cy="1463040"/>
          </a:xfrm>
          <a:prstGeom prst="rect">
            <a:avLst/>
          </a:prstGeom>
          <a:solidFill>
            <a:srgbClr val="05192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86600" y="1463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86600" y="1737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$28.4M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86600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+9.7% YoY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1089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exceeded guidance by $4.2M driven by strong enterprise sales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expanded 180bps to 68.2% through operational efficiency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expenses held flat at 42% of revenue despite growth investments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position strengthened to $312M with $28.4M free cash flow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Income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millions USD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336499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($45.4)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($42.3)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($3.1)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$97.4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+180bps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 Expenses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($24.1)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($21.8)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($2.3)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&amp; Marketing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($22.5)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($20.9)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($1.6)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G&amp;A Expenses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($13.4)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($12.7)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($0.7)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+27.2%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&amp; Other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($3.2)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($2.8)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($0.4)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Provision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($12.1)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($7.9)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($4.2)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Revenue by Segment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millions USD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194767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Solutions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Licensing &amp;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Chart 0"/>
          <p:cNvGraphicFramePr/>
          <p:nvPr/>
        </p:nvGraphicFramePr>
        <p:xfrm>
          <a:off x="2286000" y="3200400"/>
          <a:ext cx="45720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Balance Sheet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millions USD — as of March 31, 2026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90104" cy="383133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&amp; Equivalents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$289.4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+$22.6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Receivable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+$8.2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Current Assets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Current Assets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$458.4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PP&amp;E (net)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$128.3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Goodwill &amp; Intangibles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$215.8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$215.8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Assets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$798.8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$767.9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+$30.9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Liabilities &amp; 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Liabilities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Liabilities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Liabilities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$326.0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$319.3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+$6.7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Equity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$448.6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Cash Flow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millions USD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90104" cy="41605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Activities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&amp; Amortization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in Working Capital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($4.8)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($3.2)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($1.6)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Stock-Based Compensation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+$0.8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Operations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Investing Activities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Expenditures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($3.5)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($4.1)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+$0.6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($12.5)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Investing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($3.5)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($16.6)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+$13.1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Financing Activities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Dividends Paid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($4.2)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($3.8)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($0.4)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Repurchases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($1.6)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($2.0)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+$0.4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Financing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($5.8)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($5.8)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Change in Cash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+$16.2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Cash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2025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Financial Review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3EF6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 Profit &amp; Loss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millions USD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29809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($172.0)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($157.4)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($14.6)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$349.3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$305.4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+100bps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OpEx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($219.8)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($198.2)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($21.6)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$129.5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$107.2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Margin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+160bps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 (Diluted)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 Operating Expense Detail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millions USD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&amp; Development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&amp; Marketing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&amp; Administrative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Operating Expenses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$219.8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$198.2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1371600" y="3200400"/>
          <a:ext cx="64008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Trends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Financial Performance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3EF6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Revenue Trend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millions USD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 CAGR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Solutions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$165.2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$194.8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$232.6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$118.6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Licensing &amp;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$411.7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1371600" y="3383280"/>
          <a:ext cx="64008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Profitability Trend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millions USD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$411.7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$305.4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$349.3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$107.2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$129.5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$136.4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Balance Sheet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millions USD — as of fiscal year end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&amp; Equivalents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$218.6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$289.4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Current Assets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Assets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$672.4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$767.9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Current Liabilities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Liabilities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$298.2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$308.7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$319.3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Equity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$415.4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$448.6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Debt-to-Equity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 Ratios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twelve months unless noted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4.64x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4.43x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4.03x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3.81x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Debt/Equity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Coverage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Equity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Assets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per Employee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$257K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Sales Outstanding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Turnover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 Outlook &amp; Guidance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2026 Guidance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 Actual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$580–$600M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$521.3M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+11–15%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67–69%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to +200bps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25–27%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to +220bps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 (Diluted)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$4.30–$4.60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+10–17%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$14–$16M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Cash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$105–$115M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$98.2M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+7–17%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3429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" y="37490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segment growth of 15–20% driven by new product launches and geographic expansion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 acceleration with migration of 40% of on-premise customers by year-end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increase of 8–10% focused on engineering and go-to-market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material M&amp;A activity assumed in base guidance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contains confidential financial information intended solely for the Board of Directors.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3EF6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1309</Words>
  <Application>Microsoft Office PowerPoint</Application>
  <PresentationFormat>On-screen Show (16:9)</PresentationFormat>
  <Paragraphs>541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 Wall</dc:creator>
  <cp:lastModifiedBy>Helen Wall</cp:lastModifiedBy>
  <cp:revision>1</cp:revision>
  <dcterms:created xsi:type="dcterms:W3CDTF">2026-05-17T20:41:37Z</dcterms:created>
  <dcterms:modified xsi:type="dcterms:W3CDTF">2026-05-18T00:01:54Z</dcterms:modified>
</cp:coreProperties>
</file>